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BENGALURU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7899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SMART MOBILITY</a:t>
            </a:r>
          </a:p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337560"/>
            <a:ext cx="7772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EEF3F9"/>
                </a:solidFill>
                <a:latin typeface="Aptos"/>
              </a:defRPr>
            </a:pPr>
            <a:r>
              <a:t>FINAL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EEF3F9"/>
                </a:solidFill>
                <a:latin typeface="Aptos"/>
              </a:defRPr>
            </a:pPr>
            <a:r>
              <a:t>Traffic forecasting • Road safety • Enforcement analytics • Vehicle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1005840" cy="64008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EEF3F9"/>
                </a:solidFill>
                <a:latin typeface="Aptos"/>
              </a:defRPr>
            </a:pPr>
            <a:r>
              <a:t>An integrated machine-learning and computer-vision decision-support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4476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EEF3F9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A unified view of traffic-related signals for exploratory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8813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0" i="0">
                <a:solidFill>
                  <a:srgbClr val="202833"/>
                </a:solidFill>
                <a:latin typeface="Aptos"/>
              </a:defRPr>
            </a:pPr>
            <a:r>
              <a:t>Bengaluru Smart Mobility Intelligence combines traffic observations, road-safety records, traffic-police enforcement statistics, mobility indicators and camera-based vehicle detection in one interactive Streamlit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606040" cy="15544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880360"/>
            <a:ext cx="73152" cy="155448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026664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10712"/>
            <a:ext cx="2258568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Next-day congestion outlook and road-level estimation.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880360"/>
            <a:ext cx="2606040" cy="15544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880360"/>
            <a:ext cx="73152" cy="155448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3026664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410712"/>
            <a:ext cx="2258568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Descriptive crash and fatality trend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80360"/>
            <a:ext cx="2606040" cy="15544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880360"/>
            <a:ext cx="73152" cy="155448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26664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10712"/>
            <a:ext cx="2258568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Cases, fines and automation-related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880360"/>
            <a:ext cx="2606040" cy="15544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880360"/>
            <a:ext cx="73152" cy="1554480"/>
          </a:xfrm>
          <a:prstGeom prst="rect">
            <a:avLst/>
          </a:prstGeom>
          <a:solidFill>
            <a:srgbClr val="B84040"/>
          </a:solidFill>
          <a:ln>
            <a:solidFill>
              <a:srgbClr val="B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3026664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410712"/>
            <a:ext cx="2258568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YOLO vehicle detections and relative PCU 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1">
                <a:solidFill>
                  <a:srgbClr val="526070"/>
                </a:solidFill>
                <a:latin typeface="Aptos"/>
              </a:defRPr>
            </a:pPr>
            <a:r>
              <a:t>The application is a decision-support prototype. Outputs are estimates and descriptive indicators—not guarantees, official traffic feeds, or proof of causation.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Why integrate traffic, safety, enforcement and camera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200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2004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FRAGMENTED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127248" cy="2578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Traffic conditions, crashes and enforcement records may be analysed separately, limiting a joined view of road-level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3200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320040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UNCERTAIN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127248" cy="2578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Day-to-day congestion is noisy; planners need estimates with clear evaluation and limitations.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3200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320040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CAMERA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3127248" cy="2578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Vehicle detections can add a visual signal, but a test feed must not be mistaken for actual Bengaluru CCTV.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13D"/>
                </a:solidFill>
                <a:latin typeface="Aptos"/>
              </a:defRPr>
            </a:pPr>
            <a:r>
              <a:t>Project goal: build an interactive, evidence-led prototype to explore patterns, forecast congestion and identify roads for further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The work combines analysis, prediction and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Prepare and analyse traffic, road-safety, enforcement and mobility datasets.</a:t>
            </a:r>
          </a:p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Estimate congestion under user-selected road conditions.</a:t>
            </a:r>
          </a:p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Forecast next-day congestion and estimate severe-congestion risk.</a:t>
            </a:r>
          </a:p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Explore crash/fatality trends and traffic-police enforcement patterns.</a:t>
            </a:r>
          </a:p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Detect vehicles with YOLO and apply passenger-car-unit (PCU) weights.</a:t>
            </a:r>
          </a:p>
          <a:p>
            <a:pPr>
              <a:spcAft>
                <a:spcPts val="900"/>
              </a:spcAft>
              <a:defRPr sz="1800">
                <a:solidFill>
                  <a:srgbClr val="202833"/>
                </a:solidFill>
                <a:latin typeface="Aptos"/>
              </a:defRPr>
            </a:pPr>
            <a:r>
              <a:t>•  Present results in an interactive Streamlit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From source data to interactive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783080" cy="2286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73152" cy="22860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49424"/>
            <a:ext cx="1435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1. 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33472"/>
            <a:ext cx="1435607" cy="1664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Traffic • crashes • enforcement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Road stats • vehicle imagery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2608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103120"/>
            <a:ext cx="1783080" cy="2286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2103120"/>
            <a:ext cx="73152" cy="228600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9424"/>
            <a:ext cx="1435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2.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633472"/>
            <a:ext cx="1435607" cy="1664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Cleaning • validation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Date/road features • 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92608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103120"/>
            <a:ext cx="1783080" cy="2286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2103120"/>
            <a:ext cx="73152" cy="228600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249424"/>
            <a:ext cx="1435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3.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2633472"/>
            <a:ext cx="1435607" cy="1664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Forecasting • risk model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Trend analysis • 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92608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2103120"/>
            <a:ext cx="1783080" cy="2286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2103120"/>
            <a:ext cx="73152" cy="2286000"/>
          </a:xfrm>
          <a:prstGeom prst="rect">
            <a:avLst/>
          </a:prstGeom>
          <a:solidFill>
            <a:srgbClr val="B84040"/>
          </a:solidFill>
          <a:ln>
            <a:solidFill>
              <a:srgbClr val="B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2249424"/>
            <a:ext cx="1435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4.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33472"/>
            <a:ext cx="1435607" cy="1664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Road context + camera index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PCU-weighted visual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92608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103120"/>
            <a:ext cx="1783080" cy="2286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02952" y="2103120"/>
            <a:ext cx="73152" cy="22860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249424"/>
            <a:ext cx="1435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5.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633472"/>
            <a:ext cx="1435607" cy="1664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Streamlit • charts • maps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Metrics •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526070"/>
                </a:solidFill>
                <a:latin typeface="Aptos"/>
              </a:defRPr>
            </a:pPr>
            <a:r>
              <a:t>The selected road provides context for the camera observation; it does not verify the physical location of a demo 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Data Sources and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Coverage and quality determine how results should be interpreted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TRAFFIC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12724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Road-level volume, speed, congestion, travel-time index, capacity and related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55063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CRASH &amp;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12724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Crash/fatality summaries, cases booked, fines and automation share.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VISION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12724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BMD-45 vehicle imagery plus sample, uploaded or accessible stream frames.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4213D"/>
                </a:solidFill>
                <a:latin typeface="Aptos"/>
              </a:defRPr>
            </a:pPr>
            <a:r>
              <a:t>Known project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60704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Traffic dashboard covers 16 monitored roads across Bengaluru areas.</a:t>
            </a:r>
          </a:p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Traffic records span approximately 2.5 years in the current dataset.</a:t>
            </a:r>
          </a:p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Crash and enforcement date ranges depend on their respective source tables.</a:t>
            </a:r>
          </a:p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Dataset publishers, licences and exact source URLs should be documented in the final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Data Preparation and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Quality checks precede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58368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Standardise dates, road/area labels and numeric data types.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Check duplicate records, missing values, outliers and inconsistent totals.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Aggregate duplicate area-date records where appropriate.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Create calendar features and road-specific lag/rolling features for forecasting.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Preserve chronological order for train/test evaluation to reduce look-ahead leakage.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Review source inconsistencies before interpreting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9164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691640"/>
            <a:ext cx="73152" cy="333756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83794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221992"/>
            <a:ext cx="3127248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Poor data quality can distort road comparisons and inflate model evaluation. Data preparation and temporal validation are core parts of the result—not just preliminary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Analytical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Different tasks require different evaluation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23957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239572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Congestion estimation and next-day forecasting; evaluate with MAE, RMSE and R².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0876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508760"/>
            <a:ext cx="73152" cy="1874519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655063"/>
            <a:ext cx="23957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RISK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039112"/>
            <a:ext cx="239572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Incident-count modelling and severe-congestion risk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508760"/>
            <a:ext cx="2240280" cy="1874519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508760"/>
            <a:ext cx="73152" cy="1874519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655063"/>
            <a:ext cx="1892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TIME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039112"/>
            <a:ext cx="189280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Chronological holdout and baseline comparisons.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08760"/>
            <a:ext cx="2514600" cy="1874519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73152" cy="1874519"/>
          </a:xfrm>
          <a:prstGeom prst="rect">
            <a:avLst/>
          </a:prstGeom>
          <a:solidFill>
            <a:srgbClr val="B84040"/>
          </a:solidFill>
          <a:ln>
            <a:solidFill>
              <a:srgbClr val="B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655063"/>
            <a:ext cx="21671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039112"/>
            <a:ext cx="216712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YOLO vehicle classes, confidence threshold and PCU weighting.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4213D"/>
                </a:solidFill>
                <a:latin typeface="Aptos"/>
              </a:defRPr>
            </a:pPr>
            <a:r>
              <a:t>Model scores must be interpreted against baselines and dataset limitations; R² is not the same as accuracy.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526070"/>
                </a:solidFill>
                <a:latin typeface="Aptos"/>
              </a:defRPr>
            </a:pPr>
            <a:r>
              <a:t>For descriptive crash and enforcement analysis, correlations show association only and do not establish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Congestion Forecasting —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Chronological evaluation from the project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526070"/>
                </a:solidFill>
                <a:latin typeface="Aptos"/>
              </a:defRPr>
            </a:pPr>
            <a:r>
              <a:t>Reported comparison on the held-out period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74519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↓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RMSE ↓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R² ↑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833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833"/>
                          </a:solidFill>
                        </a:defRPr>
                      </a:pPr>
                      <a:r>
                        <a:t>14.472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833"/>
                          </a:solidFill>
                        </a:defRPr>
                      </a:pPr>
                      <a:r>
                        <a:t>18.663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833"/>
                          </a:solidFill>
                        </a:defRPr>
                      </a:pPr>
                      <a:r>
                        <a:t>0.323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14.881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19.545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0.258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15.378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19.829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0.236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14.440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20.062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0.218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Per-road mean baseline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15.523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20.082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0.217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Persistence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15.709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24.343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833"/>
                          </a:solidFill>
                        </a:defRPr>
                      </a:pPr>
                      <a:r>
                        <a:t>-0.151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823960" y="187451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874519"/>
            <a:ext cx="73152" cy="201168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2020824"/>
            <a:ext cx="22128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404872"/>
            <a:ext cx="2212848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HistGradientBoosting was selected based on validation RMSE among the evaluated forecasting candidates.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160520"/>
            <a:ext cx="24231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MAE/RMSE are prediction errors (lower is better). The results indicate moderate predictive signal and meaningful day-to-day uncertainty.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Incident-Risk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Model compared with a simple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73152" cy="182880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92224"/>
            <a:ext cx="28529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MODEL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285292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0.964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73152" cy="18288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792224"/>
            <a:ext cx="28529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BASELINE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76272"/>
            <a:ext cx="285292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1.162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73152" cy="182880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92224"/>
            <a:ext cx="28529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POISSON DEVIANCE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76272"/>
            <a:ext cx="2852928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1.084 model  •  1.435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4213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042416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The model outperformed the reported baseline on MAE and Poisson deviance.</a:t>
            </a:r>
          </a:p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Outputs should be treated as expected-count/risk indicators, not exact incident predictions.</a:t>
            </a:r>
          </a:p>
          <a:p>
            <a:pPr>
              <a:spcAft>
                <a:spcPts val="900"/>
              </a:spcAft>
              <a:defRPr sz="1400">
                <a:solidFill>
                  <a:srgbClr val="202833"/>
                </a:solidFill>
                <a:latin typeface="Aptos"/>
              </a:defRPr>
            </a:pPr>
            <a:r>
              <a:t>•  Further validation on newer and broader road data is needed before operational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Road Safety and Crash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Descriptive trends and exploratory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92024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HISTORICAL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312724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Crash counts, fatalities, fatal share and changes across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92024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465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BACK-TESTING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12724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Forecast behaviour was reviewed against historical observations.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465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2026 OUTLOOK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3127248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An exploratory forecast was produced from available historical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B84040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06070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833"/>
                </a:solidFill>
                <a:latin typeface="Aptos"/>
              </a:defRPr>
            </a:pPr>
            <a:r>
              <a:t>Crash and fatality forecasts are sensitive to reporting changes, incomplete years and limited history. The analysis is descriptive; it does not identify causes or establish that enforcement or road conditions caused observed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Traffic-Police Enforcement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Cases, fines, automation and trend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675120" cy="4023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Reviewed cases booked, fines and enforcement categories.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Calculated automation share where source fields allowed it.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Checked consistency in yearly totals; the project notebook flagged a 2022 discrepancy involving 22 cases.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Explored the relationship between enforcement and crash indicators.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Produced a next-year enforcement forecast from the available series.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3736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737360"/>
            <a:ext cx="73152" cy="292608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883664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267712"/>
            <a:ext cx="2944368" cy="2304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A relationship between enforcement and crashes may reflect many factors, including traffic exposure, reporting, road conditions and enforcement targeting. It must not be interpreted as causal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YOLO Vehicle Detection and PCU Weighting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Camera frames are converted into a relative traffic-load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4213D"/>
                </a:solidFill>
                <a:latin typeface="Aptos"/>
              </a:defRPr>
            </a:pPr>
            <a:r>
              <a:t>Detector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943600" cy="3017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833"/>
                </a:solidFill>
                <a:latin typeface="Aptos"/>
              </a:defRPr>
            </a:pPr>
            <a:r>
              <a:t>•  YOLO11n model; 30 training epochs; image size 640; batch size 16.</a:t>
            </a:r>
          </a:p>
          <a:p>
            <a:pPr>
              <a:spcAft>
                <a:spcPts val="900"/>
              </a:spcAft>
              <a:defRPr sz="1500">
                <a:solidFill>
                  <a:srgbClr val="202833"/>
                </a:solidFill>
                <a:latin typeface="Aptos"/>
              </a:defRPr>
            </a:pPr>
            <a:r>
              <a:t>•  BMD-45 dataset: 3,000 training, 500 validation and 200 held-out images.</a:t>
            </a:r>
          </a:p>
          <a:p>
            <a:pPr>
              <a:spcAft>
                <a:spcPts val="900"/>
              </a:spcAft>
              <a:defRPr sz="1500">
                <a:solidFill>
                  <a:srgbClr val="202833"/>
                </a:solidFill>
                <a:latin typeface="Aptos"/>
              </a:defRPr>
            </a:pPr>
            <a:r>
              <a:t>•  14 vehicle classes, including cars, buses, trucks, two-wheelers and bicycles.</a:t>
            </a:r>
          </a:p>
          <a:p>
            <a:pPr>
              <a:spcAft>
                <a:spcPts val="900"/>
              </a:spcAft>
              <a:defRPr sz="1500">
                <a:solidFill>
                  <a:srgbClr val="202833"/>
                </a:solidFill>
                <a:latin typeface="Aptos"/>
              </a:defRPr>
            </a:pPr>
            <a:r>
              <a:t>•  Reported detector mAP50 in the app sidebar: 0.56.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4213D"/>
                </a:solidFill>
                <a:latin typeface="Aptos"/>
              </a:defRPr>
            </a:pPr>
            <a:r>
              <a:t>Example PCU weights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828800"/>
          <a:ext cx="4297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 group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PCU factor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Two-wheeler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Bicycle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Three-wheeler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LCV / Tempo-traveller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Bus / Truck / Mini-bus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Car / SUV / Van /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8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1">
                <a:solidFill>
                  <a:srgbClr val="526070"/>
                </a:solidFill>
                <a:latin typeface="Aptos"/>
              </a:defRPr>
            </a:pPr>
            <a:r>
              <a:t>PCU is a weighted, relative load estimate from detected frames—not an absolute corridor traffic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Camera Integration and Road Association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Demo-stream behaviour and operational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210312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078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INPUT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3127248" cy="1481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Sample clip • sample frames • uploaded image/video • live stream URL.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210312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0078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ROAD 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1"/>
            <a:ext cx="3127248" cy="1481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The selected road supplies context for the intelligence report and priority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210312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078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STREAM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1"/>
            <a:ext cx="3127248" cy="1481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RTSP authentication, availability and codec compatibility can prevent capture.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4213D"/>
                </a:solidFill>
                <a:latin typeface="Aptos"/>
              </a:defRPr>
            </a:pPr>
            <a:r>
              <a:t>A public test feed is not actual 100 Feet Road / Bengaluru CCTV. Label it as a test camera associated with the selected road unless the camera's physical location is verified.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Integrated user-facing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50876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Road-level what-if estimation and next-day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08760"/>
            <a:ext cx="73152" cy="150876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655063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Traffic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3911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Road/area comparisons and mobility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73152" cy="150876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655063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CCTV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3911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YOLO detections, PCU load and visual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73152" cy="1508760"/>
          </a:xfrm>
          <a:prstGeom prst="rect">
            <a:avLst/>
          </a:prstGeom>
          <a:solidFill>
            <a:srgbClr val="B84040"/>
          </a:solidFill>
          <a:ln>
            <a:solidFill>
              <a:srgbClr val="B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2102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Road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0507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Crash/fatality trends and exploratory forecast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4747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474720"/>
            <a:ext cx="73152" cy="150876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62102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00507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Cases, fines, automation and trends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4747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474720"/>
            <a:ext cx="73152" cy="150876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362102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213D"/>
                </a:solidFill>
                <a:latin typeface="Aptos"/>
              </a:defRPr>
            </a:pPr>
            <a:r>
              <a:t>Model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005072"/>
            <a:ext cx="308152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02833"/>
                </a:solidFill>
                <a:latin typeface="Aptos"/>
              </a:defRPr>
            </a:pPr>
            <a:r>
              <a:t>Evaluation scores, limitations and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526070"/>
                </a:solidFill>
                <a:latin typeface="Aptos"/>
              </a:defRPr>
            </a:pPr>
            <a:r>
              <a:t>The interface supports exploration and decision support; it does not replace official traffic management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Limitations and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What the current prototype can—and cannot—claim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98480" cy="4480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Coverage is limited to the available monitored roads, date ranges and source tables.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Congestion values are capped at 100 in the current traffic dataset.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Forecast quality is limited by day-to-day variation; performance is not perfect.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Crash/enforcement correlations are descriptive, not causal.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Vehicle detections can fail under occlusion, poor lighting, unusual viewpoints or low-quality streams.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Camera-to-road association does not confirm the camera's physical location.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Use authorised data and protect RTSP credentials; avoid privacy-invasive 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4213D"/>
                </a:solidFill>
                <a:latin typeface="Aptos"/>
              </a:defRPr>
            </a:pPr>
            <a:r>
              <a:t>Recommendations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26070"/>
                </a:solidFill>
                <a:latin typeface="Aptos"/>
              </a:defRPr>
            </a:pPr>
            <a:r>
              <a:t>A practical path from prototype to stronger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260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Collect longer, higher-frequency traffic observations across more roads and times of day.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Validate forecasts on rolling future periods and report confidence intervals or prediction ranges.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Improve road-specific calibration and compare the model against strong seasonal/road baselines.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Evaluate YOLO precision, recall and per-class performance on diverse local camera conditions.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Use verified, authorised camera feeds with reliable timestamps and known locations.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Add monitoring for missing data, stream downtime and model drift.</a:t>
            </a:r>
          </a:p>
          <a:p>
            <a:pPr>
              <a:spcAft>
                <a:spcPts val="900"/>
              </a:spcAft>
              <a:defRPr sz="1600">
                <a:solidFill>
                  <a:srgbClr val="202833"/>
                </a:solidFill>
                <a:latin typeface="Aptos"/>
              </a:defRPr>
            </a:pPr>
            <a:r>
              <a:t>•  Document dataset provenance, licensing, assumptions and reproducible training steps.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EF3F9"/>
                </a:solidFill>
                <a:latin typeface="Aptos"/>
              </a:defRPr>
            </a:pPr>
            <a:r>
              <a:t>An integrated prototype for exploratory urban mobility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EEF3F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241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The project demonstrates how traffic forecasting, incident-risk estimation, road-safety and enforcement analysis, and camera-based vehicle detection can be presented in one Streamlit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73152" cy="150876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300984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WHAT IT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85032"/>
            <a:ext cx="289864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EF3F9"/>
                </a:solidFill>
                <a:latin typeface="Aptos"/>
              </a:defRPr>
            </a:pPr>
            <a:r>
              <a:t>A joined interface for exploring multiple traffic-related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15468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154680"/>
            <a:ext cx="73152" cy="1508760"/>
          </a:xfrm>
          <a:prstGeom prst="rect">
            <a:avLst/>
          </a:prstGeom>
          <a:solidFill>
            <a:srgbClr val="228B91"/>
          </a:solidFill>
          <a:ln>
            <a:solidFill>
              <a:srgbClr val="22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3300984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WHAT IT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685032"/>
            <a:ext cx="289864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EF3F9"/>
                </a:solidFill>
                <a:latin typeface="Aptos"/>
              </a:defRPr>
            </a:pPr>
            <a:r>
              <a:t>Broader data, verified camera feeds and continued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5468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154680"/>
            <a:ext cx="73152" cy="1508760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300984"/>
            <a:ext cx="28986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HOW TO USE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685032"/>
            <a:ext cx="2898648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EF3F9"/>
                </a:solidFill>
                <a:latin typeface="Aptos"/>
              </a:defRPr>
            </a:pPr>
            <a:r>
              <a:t>As decision support—not as an official or causal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FCA311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 i="0">
                <a:solidFill>
                  <a:srgbClr val="14213D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148840"/>
            <a:ext cx="914400" cy="64008"/>
          </a:xfrm>
          <a:prstGeom prst="rect">
            <a:avLst/>
          </a:prstGeom>
          <a:solidFill>
            <a:srgbClr val="FCA311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2457A7"/>
                </a:solidFill>
                <a:latin typeface="Aptos"/>
              </a:defRPr>
            </a:pPr>
            <a:r>
              <a:t>Bengaluru Smart Mobility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526070"/>
                </a:solidFill>
                <a:latin typeface="Aptos"/>
              </a:defRPr>
            </a:pPr>
            <a:r>
              <a:t>Traffic forecasting • Safety analytics • Enforcement insights •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26070"/>
                </a:solidFill>
                <a:latin typeface="Aptos"/>
              </a:defRPr>
            </a:pPr>
            <a:r>
              <a:t>Final Project Report  |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