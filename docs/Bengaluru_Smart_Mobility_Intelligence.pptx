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Bengaluru Smart Mobility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Real Bengaluru traffic, weather, road-safety and enforcement data</a:t>
            </a:r>
          </a:p>
          <a:p>
            <a:pPr>
              <a:spcAft>
                <a:spcPts val="1000"/>
              </a:spcAft>
              <a:defRPr sz="1800"/>
            </a:pPr>
            <a:r>
              <a:t>• Forecasts, what-if estimates, hotspot and risk analytics, Streamlit app</a:t>
            </a:r>
          </a:p>
          <a:p>
            <a:pPr>
              <a:spcAft>
                <a:spcPts val="1000"/>
              </a:spcAft>
              <a:defRPr sz="1800"/>
            </a:pPr>
            <a:r>
              <a:t>• AI/ML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Problem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Two tasks: forecast tomorrow's congestion; estimate congestion under given conditions</a:t>
            </a:r>
          </a:p>
          <a:p>
            <a:pPr>
              <a:spcAft>
                <a:spcPts val="1000"/>
              </a:spcAft>
              <a:defRPr sz="1800"/>
            </a:pPr>
            <a:r>
              <a:t>• Traffic: 8,936 road-days, 16 roads, 2022-01-01 to 2024-08-09</a:t>
            </a:r>
          </a:p>
          <a:p>
            <a:pPr>
              <a:spcAft>
                <a:spcPts val="1000"/>
              </a:spcAft>
              <a:defRPr sz="1800"/>
            </a:pPr>
            <a:r>
              <a:t>• Weather = features; crashes and BTP enforcement = insight datasets</a:t>
            </a:r>
          </a:p>
          <a:p>
            <a:pPr>
              <a:spcAft>
                <a:spcPts val="1000"/>
              </a:spcAft>
              <a:defRPr sz="1800"/>
            </a:pPr>
            <a:r>
              <a:t>• Vision module (BMD-45 + YOLO) as an optional extension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 data-leakage audit changed 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Old target: only 70% truly next-day; 50% at the ceiling of 100</a:t>
            </a:r>
          </a:p>
          <a:p>
            <a:pPr>
              <a:spcAft>
                <a:spcPts val="1000"/>
              </a:spcAft>
              <a:defRPr sz="1800"/>
            </a:pPr>
            <a:r>
              <a:t>• Interpolated 'today' rows leaked tomorrow's value (R² looked ~3x better)</a:t>
            </a:r>
          </a:p>
          <a:p>
            <a:pPr>
              <a:spcAft>
                <a:spcPts val="1000"/>
              </a:spcAft>
              <a:defRPr sz="1800"/>
            </a:pPr>
            <a:r>
              <a:t>• Random split replaced by chronological split</a:t>
            </a:r>
          </a:p>
          <a:p>
            <a:pPr>
              <a:spcAft>
                <a:spcPts val="1000"/>
              </a:spcAft>
              <a:defRPr sz="1800"/>
            </a:pPr>
            <a:r>
              <a:t>• Environmental Impact = duplicate of Traffic Volume</a:t>
            </a:r>
          </a:p>
        </p:txBody>
      </p:sp>
      <p:pic>
        <p:nvPicPr>
          <p:cNvPr id="5" name="Picture 4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12038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What-if estimator (Random Forest): R² 0.969, MAE 2.8 (volume alone: 0.968)</a:t>
            </a:r>
          </a:p>
          <a:p>
            <a:pPr>
              <a:spcAft>
                <a:spcPts val="1000"/>
              </a:spcAft>
              <a:defRPr sz="1800"/>
            </a:pPr>
            <a:r>
              <a:t>• Tomorrow forecast (Ridge (tuned)): R² 0.179 vs road-average 0.179</a:t>
            </a:r>
          </a:p>
          <a:p>
            <a:pPr>
              <a:spcAft>
                <a:spcPts val="1000"/>
              </a:spcAft>
              <a:defRPr sz="1800"/>
            </a:pPr>
            <a:r>
              <a:t>• Severe-congestion alert: AUC 0.72</a:t>
            </a:r>
          </a:p>
          <a:p>
            <a:pPr>
              <a:spcAft>
                <a:spcPts val="1000"/>
              </a:spcAft>
              <a:defRPr sz="1800"/>
            </a:pPr>
            <a:r>
              <a:t>• 8 algorithms compared, tuned, time-series cross-validated; simplest model within 1 SE chosen</a:t>
            </a:r>
          </a:p>
        </p:txBody>
      </p:sp>
      <p:pic>
        <p:nvPicPr>
          <p:cNvPr id="5" name="Picture 4" descr="model_comparis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45074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Explainable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traffic_volume: a higher value increases predicted congestion (mean |SHAP| 15.79) — more vehicles on the road raise congestion</a:t>
            </a:r>
          </a:p>
          <a:p>
            <a:pPr>
              <a:spcAft>
                <a:spcPts val="1000"/>
              </a:spcAft>
              <a:defRPr sz="1800"/>
            </a:pPr>
            <a:r>
              <a:t>• pedestrian_and_cyclist_count: a higher value decreases predicted congestion (mean |SHAP| 3.75) — pedestrian-heavy streets are typically lower-vehicle streets, so the link can be negative</a:t>
            </a:r>
          </a:p>
          <a:p>
            <a:pPr>
              <a:spcAft>
                <a:spcPts val="1000"/>
              </a:spcAft>
              <a:defRPr sz="1800"/>
            </a:pPr>
            <a:r>
              <a:t>• incident_reports: a higher value increases predicted congestion (mean |SHAP| 1.36) — breakdowns and accidents block lanes and slow the whole corridor</a:t>
            </a:r>
          </a:p>
          <a:p>
            <a:pPr>
              <a:spcAft>
                <a:spcPts val="1000"/>
              </a:spcAft>
              <a:defRPr sz="1800"/>
            </a:pPr>
            <a:r>
              <a:t>• incident_rate: a higher value decreases predicted congestion (mean |SHAP| 0.78) — incidents per 10k vehicles (risk normalised for exposure)</a:t>
            </a:r>
          </a:p>
        </p:txBody>
      </p:sp>
      <p:pic>
        <p:nvPicPr>
          <p:cNvPr id="5" name="Picture 4" descr="xai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19670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Mobility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Highest traffic pressure: Koramangala (index 100/100) among areas; Sony World Junction (Koramangala) among roads (index 100).</a:t>
            </a:r>
          </a:p>
          <a:p>
            <a:pPr>
              <a:spcAft>
                <a:spcPts val="1000"/>
              </a:spcAft>
              <a:defRPr sz="1800"/>
            </a:pPr>
            <a:r>
              <a:t>• 44% of road-days sit at the congestion ceiling of 100; saturation ranges from 3% to 77% across roads — WHICH road it is explains 19% of next-day congestion variance.</a:t>
            </a:r>
          </a:p>
          <a:p>
            <a:pPr>
              <a:spcAft>
                <a:spcPts val="1000"/>
              </a:spcAft>
              <a:defRPr sz="1800"/>
            </a:pPr>
            <a:r>
              <a:t>• Time patterns: weekday differences are not detectable (p=0.90, range 1.1 pts); monthly not detectable (p=0.77); seasonal not detectable (p=0.50).</a:t>
            </a:r>
          </a:p>
          <a:p>
            <a:pPr>
              <a:spcAft>
                <a:spcPts val="1000"/>
              </a:spcAft>
              <a:defRPr sz="1800"/>
            </a:pPr>
            <a:r>
              <a:t>• Capacity utilisation and congestion move together (Spearman +0.80): congested roads are the ones that are already full.</a:t>
            </a:r>
          </a:p>
        </p:txBody>
      </p:sp>
      <p:pic>
        <p:nvPicPr>
          <p:cNvPr id="5" name="Picture 4" descr="pressure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1750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CCTV vehicle detection (YOLO + BMD-45)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YOLO11n, 14 vehicle classes; mAP50 0.56, mAP50-95 0.45</a:t>
            </a:r>
          </a:p>
          <a:p>
            <a:pPr>
              <a:spcAft>
                <a:spcPts val="1000"/>
              </a:spcAft>
              <a:defRPr sz="1800"/>
            </a:pPr>
            <a:r>
              <a:t>• PCU load from detections tracks the annotated load (r = 0.93, MAE 2.3 PCU)</a:t>
            </a:r>
          </a:p>
          <a:p>
            <a:pPr>
              <a:spcAft>
                <a:spcPts val="1000"/>
              </a:spcAft>
              <a:defRPr sz="1800"/>
            </a:pPr>
            <a:r>
              <a:t>• PCU-weighted visual congestion index (0-100) per frame</a:t>
            </a:r>
          </a:p>
          <a:p>
            <a:pPr>
              <a:spcAft>
                <a:spcPts val="1000"/>
              </a:spcAft>
              <a:defRPr sz="1800"/>
            </a:pPr>
            <a:r>
              <a:t>• Streamlit CCTV tab: image upload, video clip, live stream URL; fused into the priority report</a:t>
            </a:r>
          </a:p>
        </p:txBody>
      </p:sp>
      <p:pic>
        <p:nvPicPr>
          <p:cNvPr id="5" name="Picture 4" descr="yolo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190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Hotspots and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Highest attention: 100 Feet Road, Sony World Junction, Sarjapur Road</a:t>
            </a:r>
          </a:p>
          <a:p>
            <a:pPr>
              <a:spcAft>
                <a:spcPts val="1000"/>
              </a:spcAft>
              <a:defRPr sz="1800"/>
            </a:pPr>
            <a:r>
              <a:t>• Roadwork effect on congestion vs the road's own average: -0.8 pts (95% CI -2.2 to +0.7), not detectable.</a:t>
            </a:r>
          </a:p>
          <a:p>
            <a:pPr>
              <a:spcAft>
                <a:spcPts val="1000"/>
              </a:spcAft>
              <a:defRPr sz="1800"/>
            </a:pPr>
            <a:r>
              <a:t>• Road safety: 878 killed in 2025 vs peak 981 in 2007; fatality rate 17.9 killed per 100 crashes.</a:t>
            </a:r>
          </a:p>
          <a:p>
            <a:pPr>
              <a:spcAft>
                <a:spcPts val="1000"/>
              </a:spcAft>
              <a:defRPr sz="1800"/>
            </a:pPr>
            <a:r>
              <a:t>• Enforcement: 6.99 million cases in 2025, of which 88% automated; forecast 8.09 million next year.</a:t>
            </a:r>
          </a:p>
        </p:txBody>
      </p:sp>
      <p:pic>
        <p:nvPicPr>
          <p:cNvPr id="5" name="Picture 4" descr="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2794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Dashboard and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Interactive Plotly dashboard (5 sections) + standalone HTML</a:t>
            </a:r>
          </a:p>
          <a:p>
            <a:pPr>
              <a:spcAft>
                <a:spcPts val="1000"/>
              </a:spcAft>
              <a:defRPr sz="1800"/>
            </a:pPr>
            <a:r>
              <a:t>• Streamlit app: prediction, CCTV detection tab, analysis tabs, explainability</a:t>
            </a:r>
          </a:p>
          <a:p>
            <a:pPr>
              <a:spcAft>
                <a:spcPts val="1000"/>
              </a:spcAft>
              <a:defRPr sz="1800"/>
            </a:pPr>
            <a:r>
              <a:t>• Shared feature code prevents train/serve skew</a:t>
            </a:r>
          </a:p>
          <a:p>
            <a:pPr>
              <a:spcAft>
                <a:spcPts val="1000"/>
              </a:spcAft>
              <a:defRPr sz="1800"/>
            </a:pPr>
            <a:r>
              <a:t>• Deploy: Streamlit Community Cloud or Hugging Face Spaces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Tomorrow's congestion is mostly the road's usual level plus noise</a:t>
            </a:r>
          </a:p>
          <a:p>
            <a:pPr>
              <a:spcAft>
                <a:spcPts val="1000"/>
              </a:spcAft>
              <a:defRPr sz="1800"/>
            </a:pPr>
            <a:r>
              <a:t>• Congestion capped at 100; 16 roads; small yearly tables; associations not causation</a:t>
            </a:r>
          </a:p>
          <a:p>
            <a:pPr>
              <a:spcAft>
                <a:spcPts val="1000"/>
              </a:spcAft>
              <a:defRPr sz="1800"/>
            </a:pPr>
            <a:r>
              <a:t>• Next: more roads/years, live weather API, camera-based congestion index, per-road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